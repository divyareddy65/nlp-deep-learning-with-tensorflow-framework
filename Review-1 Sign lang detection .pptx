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7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p>
            <a:br>
              <a:rPr lang="en-US" altLang="en-US"/>
            </a:br>
            <a:r>
              <a:rPr lang="en-US" altLang="en-US" sz="489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otype Corsiva" panose="03010101010201010101" charset="0"/>
                <a:cs typeface="Monotype Corsiva" panose="03010101010201010101" charset="0"/>
              </a:rPr>
              <a:t>Problem-Based Learning</a:t>
            </a:r>
            <a:r>
              <a:rPr lang="en-US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otype Corsiva" panose="03010101010201010101" charset="0"/>
                <a:cs typeface="Monotype Corsiva" panose="03010101010201010101" charset="0"/>
              </a:rPr>
              <a:t> </a:t>
            </a:r>
            <a:br>
              <a:rPr lang="en-US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otype Corsiva" panose="03010101010201010101" charset="0"/>
                <a:cs typeface="Monotype Corsiva" panose="03010101010201010101" charset="0"/>
              </a:rPr>
            </a:br>
            <a:r>
              <a:rPr lang="en-US" altLang="en-US" b="1">
                <a:latin typeface="Agency FB" panose="020B0503020202020204" charset="0"/>
                <a:cs typeface="Agency FB" panose="020B0503020202020204" charset="0"/>
              </a:rPr>
              <a:t>Sign Language Detection</a:t>
            </a:r>
            <a:r>
              <a:rPr lang="en-US" altLang="en-US"/>
              <a:t> </a:t>
            </a:r>
            <a:endParaRPr lang="en-US" altLang="en-US"/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8510270" y="4791075"/>
            <a:ext cx="3682365" cy="20669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1" name="Table 1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55320" y="1869440"/>
          <a:ext cx="10474960" cy="32569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0595"/>
                <a:gridCol w="1863090"/>
                <a:gridCol w="3382645"/>
                <a:gridCol w="919480"/>
                <a:gridCol w="3359150"/>
              </a:tblGrid>
              <a:tr h="494030">
                <a:tc>
                  <a:txBody>
                    <a:bodyPr/>
                    <a:lstStyle/>
                    <a:p>
                      <a:r>
                        <a:rPr lang="en-IN" dirty="0" err="1"/>
                        <a:t>Sl.No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Student 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Student 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Section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Email</a:t>
                      </a:r>
                      <a:endParaRPr lang="en-IN" dirty="0"/>
                    </a:p>
                  </a:txBody>
                  <a:tcPr/>
                </a:tc>
              </a:tr>
              <a:tr h="690880">
                <a:tc>
                  <a:txBody>
                    <a:bodyPr/>
                    <a:lstStyle/>
                    <a:p>
                      <a:r>
                        <a:rPr lang="en-IN" dirty="0"/>
                        <a:t>1.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23100400</a:t>
                      </a:r>
                      <a:r>
                        <a:rPr lang="en-US" altLang="en-IN" dirty="0"/>
                        <a:t>58</a:t>
                      </a:r>
                      <a:endParaRPr lang="en-US" alt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IN" dirty="0"/>
                        <a:t>Maram Sirisha</a:t>
                      </a:r>
                      <a:endParaRPr lang="en-US" alt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dirty="0"/>
                        <a:t>23100400</a:t>
                      </a:r>
                      <a:r>
                        <a:rPr lang="en-US" altLang="en-IN" dirty="0"/>
                        <a:t>58</a:t>
                      </a:r>
                      <a:r>
                        <a:rPr lang="en-IN" dirty="0"/>
                        <a:t>@klh.edu.in</a:t>
                      </a:r>
                      <a:endParaRPr lang="en-IN" dirty="0"/>
                    </a:p>
                  </a:txBody>
                  <a:tcPr/>
                </a:tc>
              </a:tr>
              <a:tr h="68961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IN" dirty="0"/>
                        <a:t>2.</a:t>
                      </a:r>
                      <a:endParaRPr lang="en-US" altLang="en-IN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IN" dirty="0"/>
                        <a:t>23100400</a:t>
                      </a:r>
                      <a:r>
                        <a:rPr lang="en-US" altLang="en-IN" dirty="0"/>
                        <a:t>65</a:t>
                      </a:r>
                      <a:endParaRPr lang="en-US" altLang="en-IN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en-IN" dirty="0"/>
                        <a:t>M Divya Reddy</a:t>
                      </a:r>
                      <a:endParaRPr lang="en-US" altLang="en-IN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IN" dirty="0"/>
                        <a:t>S2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dirty="0"/>
                        <a:t>23100400</a:t>
                      </a:r>
                      <a:r>
                        <a:rPr lang="en-US" altLang="en-IN" dirty="0"/>
                        <a:t>65</a:t>
                      </a:r>
                      <a:r>
                        <a:rPr lang="en-IN" dirty="0"/>
                        <a:t>@klh.edu.in</a:t>
                      </a:r>
                      <a:endParaRPr lang="en-IN" dirty="0"/>
                    </a:p>
                  </a:txBody>
                  <a:tcPr/>
                </a:tc>
              </a:tr>
              <a:tr h="690880">
                <a:tc>
                  <a:txBody>
                    <a:bodyPr/>
                    <a:lstStyle/>
                    <a:p>
                      <a:r>
                        <a:rPr lang="en-US" altLang="en-IN" dirty="0"/>
                        <a:t>3.</a:t>
                      </a:r>
                      <a:endParaRPr lang="en-US" alt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2310040</a:t>
                      </a:r>
                      <a:r>
                        <a:rPr lang="en-US" altLang="en-IN" dirty="0"/>
                        <a:t>116</a:t>
                      </a:r>
                      <a:endParaRPr lang="en-US" alt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IN" dirty="0"/>
                        <a:t>S.Harini Reddy</a:t>
                      </a:r>
                      <a:endParaRPr lang="en-US" alt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dirty="0"/>
                        <a:t>2310040</a:t>
                      </a:r>
                      <a:r>
                        <a:rPr lang="en-US" altLang="en-IN" dirty="0"/>
                        <a:t>116</a:t>
                      </a:r>
                      <a:r>
                        <a:rPr lang="en-IN" dirty="0"/>
                        <a:t>@klh.edu.in</a:t>
                      </a:r>
                      <a:endParaRPr lang="en-IN" dirty="0"/>
                    </a:p>
                  </a:txBody>
                  <a:tcPr/>
                </a:tc>
              </a:tr>
              <a:tr h="691515">
                <a:tc>
                  <a:txBody>
                    <a:bodyPr/>
                    <a:lstStyle/>
                    <a:p>
                      <a:r>
                        <a:rPr lang="en-US" altLang="en-IN" dirty="0"/>
                        <a:t>4</a:t>
                      </a:r>
                      <a:r>
                        <a:rPr lang="en-IN" dirty="0"/>
                        <a:t>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2310040</a:t>
                      </a:r>
                      <a:r>
                        <a:rPr lang="en-US" altLang="en-IN" dirty="0"/>
                        <a:t>121</a:t>
                      </a:r>
                      <a:endParaRPr lang="en-US" alt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IN" dirty="0"/>
                        <a:t>N. Ramyashree</a:t>
                      </a:r>
                      <a:endParaRPr lang="en-US" alt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dirty="0"/>
                        <a:t>2310040</a:t>
                      </a:r>
                      <a:r>
                        <a:rPr lang="en-US" altLang="en-IN" dirty="0"/>
                        <a:t>121</a:t>
                      </a:r>
                      <a:r>
                        <a:rPr lang="en-IN" dirty="0"/>
                        <a:t>@klh.edu.in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5320" y="1189990"/>
            <a:ext cx="6166485" cy="56705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Team Members’ </a:t>
            </a:r>
            <a:r>
              <a:rPr lang="en-US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Details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048000" y="514985"/>
            <a:ext cx="6096000" cy="10109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en-US" sz="3600" b="1" dirty="0">
                <a:ln>
                  <a:noFill/>
                </a:ln>
                <a:solidFill>
                  <a:srgbClr val="C00000"/>
                </a:solidFill>
                <a:effectLst/>
                <a:latin typeface="Algerian" panose="04020705040A02060702" charset="0"/>
                <a:cs typeface="Algerian" panose="04020705040A02060702" charset="0"/>
                <a:sym typeface="+mn-ea"/>
              </a:rPr>
              <a:t> Project</a:t>
            </a:r>
            <a:endParaRPr lang="en-US" altLang="en-US" sz="3600" b="1" dirty="0">
              <a:ln>
                <a:noFill/>
              </a:ln>
              <a:solidFill>
                <a:srgbClr val="C00000"/>
              </a:solidFill>
              <a:effectLst/>
              <a:latin typeface="Algerian" panose="04020705040A02060702" charset="0"/>
              <a:cs typeface="Algerian" panose="04020705040A02060702" charset="0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4000" b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charset="0"/>
                <a:cs typeface="Agency FB" panose="020B0503020202020204" charset="0"/>
                <a:sym typeface="+mn-ea"/>
              </a:rPr>
              <a:t>Why Sign Language Detection?</a:t>
            </a:r>
            <a:endParaRPr lang="en-US" altLang="en-US" sz="4000" b="1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gency FB" panose="020B0503020202020204" charset="0"/>
              <a:cs typeface="Agency FB" panose="020B0503020202020204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>
              <a:buFont typeface="Arial" panose="020B0604020202020204" pitchFamily="34" charset="0"/>
              <a:buChar char="•"/>
            </a:pPr>
            <a:r>
              <a:rPr lang="en-US" altLang="en-US"/>
              <a:t>Communication barrier for hearing/speech-impaired individuals.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Lack of real-time, automated solutions.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Human interpreters are not always available.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Need for scalable, AI-based gesture recognition systems.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charset="0"/>
                <a:cs typeface="Agency FB" panose="020B0503020202020204" charset="0"/>
                <a:sym typeface="+mn-ea"/>
              </a:rPr>
              <a:t>Project Goals</a:t>
            </a:r>
            <a:endParaRPr lang="en-US" altLang="en-US" b="1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gency FB" panose="020B0503020202020204" charset="0"/>
              <a:cs typeface="Agency FB" panose="020B0503020202020204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>
              <a:buFont typeface="Arial" panose="020B0604020202020204" pitchFamily="34" charset="0"/>
              <a:buChar char="•"/>
            </a:pPr>
            <a:r>
              <a:rPr lang="en-US" altLang="en-US"/>
              <a:t>Detect and recognize sign language gestures using YOLOv5.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Create a real-time detection system using computer vision.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Bridge communication gap using AI.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Improve accessibility with fast and accurate predictions.</a:t>
            </a:r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solidFill>
                  <a:srgbClr val="FF0000"/>
                </a:solidFill>
                <a:latin typeface="Agency FB" panose="020B0503020202020204" charset="0"/>
                <a:cs typeface="Agency FB" panose="020B0503020202020204" charset="0"/>
                <a:sym typeface="+mn-ea"/>
              </a:rPr>
              <a:t>What is YOLOv5?</a:t>
            </a:r>
            <a:endParaRPr lang="en-US" altLang="en-US" b="1">
              <a:solidFill>
                <a:srgbClr val="FF0000"/>
              </a:solidFill>
              <a:latin typeface="Agency FB" panose="020B0503020202020204" charset="0"/>
              <a:cs typeface="Agency FB" panose="020B0503020202020204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27505"/>
            <a:ext cx="10515600" cy="4549775"/>
          </a:xfrm>
        </p:spPr>
        <p:txBody>
          <a:bodyPr>
            <a:normAutofit/>
          </a:bodyPr>
          <a:p>
            <a:pPr>
              <a:buFont typeface="Arial" panose="020B0604020202020204" pitchFamily="34" charset="0"/>
              <a:buChar char="•"/>
            </a:pPr>
            <a:r>
              <a:rPr lang="en-US" altLang="en-US"/>
              <a:t>Stands for You Only Look Once – real-time object detection.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Lightweight, accurate, and fast.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Suitable for gesture detection in video streams.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Trained on custom hand gesture dataset.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9230"/>
            <a:ext cx="10515600" cy="991235"/>
          </a:xfrm>
        </p:spPr>
        <p:txBody>
          <a:bodyPr/>
          <a:p>
            <a:r>
              <a:rPr lang="en-US" altLang="en-US" sz="4000" b="1">
                <a:solidFill>
                  <a:srgbClr val="FF0000"/>
                </a:solidFill>
                <a:latin typeface="Agency FB" panose="020B0503020202020204" charset="0"/>
                <a:cs typeface="Agency FB" panose="020B0503020202020204" charset="0"/>
                <a:sym typeface="+mn-ea"/>
              </a:rPr>
              <a:t>How the System Works</a:t>
            </a:r>
            <a:endParaRPr lang="en-US" altLang="en-US" sz="4000" b="1">
              <a:solidFill>
                <a:srgbClr val="FF0000"/>
              </a:solidFill>
              <a:latin typeface="Agency FB" panose="020B0503020202020204" charset="0"/>
              <a:cs typeface="Agency FB" panose="020B0503020202020204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47775"/>
            <a:ext cx="10515600" cy="492950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2700">
                <a:latin typeface="HoloLens MDL2 Assets" panose="050A0102010101010101" charset="0"/>
                <a:cs typeface="HoloLens MDL2 Assets" panose="050A0102010101010101" charset="0"/>
              </a:rPr>
              <a:t>                                       Flow Chart:</a:t>
            </a:r>
            <a:endParaRPr lang="en-US" altLang="en-US" sz="2700">
              <a:latin typeface="HoloLens MDL2 Assets" panose="050A0102010101010101" charset="0"/>
              <a:cs typeface="HoloLens MDL2 Assets" panose="050A0102010101010101" charset="0"/>
            </a:endParaRPr>
          </a:p>
          <a:p>
            <a:endParaRPr lang="en-US" altLang="en-US" sz="2700">
              <a:latin typeface="HoloLens MDL2 Assets" panose="050A0102010101010101" charset="0"/>
              <a:cs typeface="HoloLens MDL2 Assets" panose="050A0102010101010101" charset="0"/>
            </a:endParaRPr>
          </a:p>
          <a:p>
            <a:r>
              <a:rPr lang="en-US" altLang="en-US" sz="2700">
                <a:latin typeface="HoloLens MDL2 Assets" panose="050A0102010101010101" charset="0"/>
                <a:cs typeface="HoloLens MDL2 Assets" panose="050A0102010101010101" charset="0"/>
              </a:rPr>
              <a:t>Video Input → Preprocessing → YOLOv5 Detection →</a:t>
            </a:r>
            <a:endParaRPr lang="en-US" altLang="en-US" sz="2700">
              <a:latin typeface="HoloLens MDL2 Assets" panose="050A0102010101010101" charset="0"/>
              <a:cs typeface="HoloLens MDL2 Assets" panose="050A0102010101010101" charset="0"/>
            </a:endParaRPr>
          </a:p>
          <a:p>
            <a:endParaRPr lang="en-US" altLang="en-US" sz="2700">
              <a:latin typeface="HoloLens MDL2 Assets" panose="050A0102010101010101" charset="0"/>
              <a:cs typeface="HoloLens MDL2 Assets" panose="050A0102010101010101" charset="0"/>
            </a:endParaRPr>
          </a:p>
          <a:p>
            <a:r>
              <a:rPr lang="en-US" altLang="en-US" sz="2700">
                <a:latin typeface="HoloLens MDL2 Assets" panose="050A0102010101010101" charset="0"/>
                <a:cs typeface="HoloLens MDL2 Assets" panose="050A0102010101010101" charset="0"/>
              </a:rPr>
              <a:t>Gesture Classification → Output / Translation results</a:t>
            </a:r>
            <a:endParaRPr lang="en-US" altLang="en-US" sz="2700">
              <a:latin typeface="HoloLens MDL2 Assets" panose="050A0102010101010101" charset="0"/>
              <a:cs typeface="HoloLens MDL2 Assets" panose="050A0102010101010101" charset="0"/>
            </a:endParaRPr>
          </a:p>
          <a:p>
            <a:endParaRPr lang="en-US" altLang="en-US" sz="2700">
              <a:latin typeface="HoloLens MDL2 Assets" panose="050A0102010101010101" charset="0"/>
              <a:cs typeface="HoloLens MDL2 Assets" panose="050A0102010101010101" charset="0"/>
            </a:endParaRPr>
          </a:p>
          <a:p>
            <a:r>
              <a:rPr lang="en-US" altLang="en-US" sz="2700" b="1">
                <a:solidFill>
                  <a:srgbClr val="FF0000"/>
                </a:solidFill>
                <a:latin typeface="HoloLens MDL2 Assets" panose="050A0102010101010101" charset="0"/>
                <a:cs typeface="HoloLens MDL2 Assets" panose="050A0102010101010101" charset="0"/>
              </a:rPr>
              <a:t>Using: </a:t>
            </a:r>
            <a:r>
              <a:rPr lang="en-US" altLang="en-US" sz="2700">
                <a:latin typeface="HoloLens MDL2 Assets" panose="050A0102010101010101" charset="0"/>
                <a:cs typeface="HoloLens MDL2 Assets" panose="050A0102010101010101" charset="0"/>
              </a:rPr>
              <a:t>Python, OpenCV, YOLOv5, LabelImg, PyTorch</a:t>
            </a:r>
            <a:endParaRPr lang="en-US" altLang="en-US" sz="2700">
              <a:latin typeface="HoloLens MDL2 Assets" panose="050A0102010101010101" charset="0"/>
              <a:cs typeface="HoloLens MDL2 Assets" panose="050A0102010101010101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solidFill>
                  <a:srgbClr val="FF0000"/>
                </a:solidFill>
                <a:latin typeface="Agency FB" panose="020B0503020202020204" charset="0"/>
                <a:cs typeface="Agency FB" panose="020B0503020202020204" charset="0"/>
                <a:sym typeface="+mn-ea"/>
              </a:rPr>
              <a:t>Future Scope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We aim to innovate by adding real-time voice translation, multilingual support, and continuous gesture-to-text conversion to improve communication and accessibility.</a:t>
            </a:r>
            <a:endParaRPr lang="en-US" altLang="en-US"/>
          </a:p>
          <a:p>
            <a:r>
              <a:rPr lang="en-US" altLang="en-US" b="1">
                <a:solidFill>
                  <a:srgbClr val="FF0000"/>
                </a:solidFill>
                <a:latin typeface="Agency FB" panose="020B0503020202020204" charset="0"/>
                <a:cs typeface="Agency FB" panose="020B0503020202020204" charset="0"/>
              </a:rPr>
              <a:t>Expected Outcome:</a:t>
            </a:r>
            <a:endParaRPr lang="en-US" altLang="en-US" b="1">
              <a:solidFill>
                <a:srgbClr val="FF0000"/>
              </a:solidFill>
              <a:latin typeface="Agency FB" panose="020B0503020202020204" charset="0"/>
              <a:cs typeface="Agency FB" panose="020B0503020202020204" charset="0"/>
            </a:endParaRPr>
          </a:p>
          <a:p>
            <a:r>
              <a:rPr lang="en-US" altLang="en-US"/>
              <a:t>Sign Language detection converts hand gestures into text or speech in real-time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635" y="-635"/>
            <a:ext cx="12192635" cy="6858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24*256"/>
  <p:tag name="TABLE_ENDDRAG_RECT" val="51*147*824*25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1443</Words>
  <Application>WPS Presentation</Application>
  <PresentationFormat>Widescreen</PresentationFormat>
  <Paragraphs>105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1" baseType="lpstr">
      <vt:lpstr>Arial</vt:lpstr>
      <vt:lpstr>SimSun</vt:lpstr>
      <vt:lpstr>Wingdings</vt:lpstr>
      <vt:lpstr>Monotype Corsiva</vt:lpstr>
      <vt:lpstr>Agency FB</vt:lpstr>
      <vt:lpstr>Times New Roman</vt:lpstr>
      <vt:lpstr>Algerian</vt:lpstr>
      <vt:lpstr>HoloLens MDL2 Assets</vt:lpstr>
      <vt:lpstr>Calibri Light</vt:lpstr>
      <vt:lpstr>Calibri</vt:lpstr>
      <vt:lpstr>Microsoft YaHei</vt:lpstr>
      <vt:lpstr>Arial Unicode MS</vt:lpstr>
      <vt:lpstr>Office Theme</vt:lpstr>
      <vt:lpstr> Problem-Based Learning  Sign Language Detection </vt:lpstr>
      <vt:lpstr>PowerPoint 演示文稿</vt:lpstr>
      <vt:lpstr>Why Sign Language Detection?</vt:lpstr>
      <vt:lpstr>Project Goals</vt:lpstr>
      <vt:lpstr>What is YOLOv5?</vt:lpstr>
      <vt:lpstr>How the System Works</vt:lpstr>
      <vt:lpstr>Future Scope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_x000B_Problem-Based Learning  Sign Language Detection </dc:title>
  <dc:creator>Lenovo</dc:creator>
  <cp:lastModifiedBy>MAMIDI DIVYA REDDY</cp:lastModifiedBy>
  <cp:revision>3</cp:revision>
  <dcterms:created xsi:type="dcterms:W3CDTF">2025-07-25T02:48:00Z</dcterms:created>
  <dcterms:modified xsi:type="dcterms:W3CDTF">2025-07-25T08:10:50Z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6C274AFF2C7A44D09B9BE35F6ED9D18A_11</vt:lpwstr>
  </property>
  <property fmtid="{D5CDD505-2E9C-101B-9397-08002B2CF9AE}" pid="3" name="KSOProductBuildVer">
    <vt:lpwstr>1033-12.2.0.21931</vt:lpwstr>
  </property>
</Properties>
</file>